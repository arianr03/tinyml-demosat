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72" r:id="rId7"/>
    <p:sldId id="276" r:id="rId8"/>
    <p:sldId id="267" r:id="rId9"/>
    <p:sldId id="275" r:id="rId10"/>
    <p:sldId id="269" r:id="rId11"/>
    <p:sldId id="265" r:id="rId12"/>
    <p:sldId id="277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A61E31-CC4F-42C4-8B70-CE63905DA4AD}" v="2" dt="2025-11-04T15:37:10.0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88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an Rasoli" userId="56bd07e470b850eb" providerId="LiveId" clId="{6AB7E044-F863-407C-A506-12ED88C2EC37}"/>
    <pc:docChg chg="custSel modSld">
      <pc:chgData name="Arian Rasoli" userId="56bd07e470b850eb" providerId="LiveId" clId="{6AB7E044-F863-407C-A506-12ED88C2EC37}" dt="2025-11-04T15:37:16.804" v="68" actId="20577"/>
      <pc:docMkLst>
        <pc:docMk/>
      </pc:docMkLst>
      <pc:sldChg chg="modSp mod">
        <pc:chgData name="Arian Rasoli" userId="56bd07e470b850eb" providerId="LiveId" clId="{6AB7E044-F863-407C-A506-12ED88C2EC37}" dt="2025-11-04T15:36:30.246" v="31" actId="20577"/>
        <pc:sldMkLst>
          <pc:docMk/>
          <pc:sldMk cId="1803186097" sldId="267"/>
        </pc:sldMkLst>
        <pc:spChg chg="mod">
          <ac:chgData name="Arian Rasoli" userId="56bd07e470b850eb" providerId="LiveId" clId="{6AB7E044-F863-407C-A506-12ED88C2EC37}" dt="2025-11-04T15:36:30.246" v="31" actId="20577"/>
          <ac:spMkLst>
            <pc:docMk/>
            <pc:sldMk cId="1803186097" sldId="267"/>
            <ac:spMk id="8" creationId="{D8EF1BD1-7551-7362-B4F7-A3DEF05B8186}"/>
          </ac:spMkLst>
        </pc:spChg>
      </pc:sldChg>
      <pc:sldChg chg="modSp mod">
        <pc:chgData name="Arian Rasoli" userId="56bd07e470b850eb" providerId="LiveId" clId="{6AB7E044-F863-407C-A506-12ED88C2EC37}" dt="2025-11-04T15:37:16.804" v="68" actId="20577"/>
        <pc:sldMkLst>
          <pc:docMk/>
          <pc:sldMk cId="4034294175" sldId="275"/>
        </pc:sldMkLst>
        <pc:spChg chg="mod">
          <ac:chgData name="Arian Rasoli" userId="56bd07e470b850eb" providerId="LiveId" clId="{6AB7E044-F863-407C-A506-12ED88C2EC37}" dt="2025-11-04T15:37:16.804" v="68" actId="20577"/>
          <ac:spMkLst>
            <pc:docMk/>
            <pc:sldMk cId="4034294175" sldId="275"/>
            <ac:spMk id="4" creationId="{EA7C826E-C613-0F21-83D2-5B8114BA9B0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08528-A10B-33B8-8F63-ED3645134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999B1-F3D1-ADF0-608C-2F35BAF6D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E13E2-F4F0-4E5B-7FE9-CF260715A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0241C-51CF-138B-0425-3ACE42195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509BC-1F4A-0303-CBEF-7C842D955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874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4B1AB-9B5F-E680-3690-29A4B99FD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70751-A6AF-3D06-D278-10595C2CA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807FC-75C8-0190-B93B-CE3136AB3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CF173-866B-E87C-57DB-11C969FF8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A1320-7CD5-2385-1B6E-88A9A3D9E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979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7791-015D-0C56-7370-1DD2F3056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81591-18C5-47B6-A856-CCD8BCA02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F235F-1BBC-8FFA-ECE7-0AD45DE29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CCFCE-4ACB-D34C-D2B1-D66DB1B6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73909-27DF-BC68-400C-2863BAE77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8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993F7-8706-8F7C-2A82-0371B46AA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36576-7BBB-7857-B14D-7229C8F22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06666-4AB0-75B5-9499-C2605D03B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49681-F3F0-A9DC-C42C-0516FF248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86F57-B9EC-57ED-7A38-84F96D60F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10240-C9A0-5DBD-7663-529ADE4C2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2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76472-D86A-5854-EF48-6281F2EC0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CBCC2-1753-13B1-7092-3B8BE7112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1CB2DD-4442-1E4E-0F8D-0778E390D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4BEFE1-BE8C-87AB-EF5E-1F38F68F7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8A5790-EF0D-0FA6-B444-3408DAD528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CF03A2-2DC5-CAA3-F247-2350CA9F7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0B3464-8AF9-3752-7A8E-636060BE1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9CF1A8-9798-3AEE-4DEE-DEC79952C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15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DFC7-7CD4-4619-9D25-A96BBA378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4C42F5-46EF-EC65-BC81-B685461CC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26EE62-2546-FF5D-94CC-84A0F23AE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E30370-41A2-5C95-2004-92E3EE386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15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499517-0221-A846-0100-352130B83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84F13E-B9A5-9BF1-667D-773BD41B8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772D5-92B8-ECA2-3E39-43B24AA47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409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BAAC4-3A9F-E1D6-DBC4-ADE29849C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C92B2-2BFA-12FC-323C-2203BBB7A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7406F-FA51-01C3-059A-216C9D977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8392B-9C2D-EBFC-2737-EC91592F2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88C04-4BE9-1BBA-CCE3-CC2C5A92E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3377D-42AB-C166-2771-B4AB82C8D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20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FA43F-B028-7563-C57C-49E1CF391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2C24EA-C565-2CA1-9913-78D3FA5F49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1ACE2-22D3-9990-E40E-783BC3219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54AEA-873B-9D8E-2A7E-B3286F747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CA9BC-620D-275D-0755-AB3B7B31B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CE7A4-56D7-9F16-0DB1-DC61375E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37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FBCC1-2FB0-E4DA-AFDA-96E316F5E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8D2AD-CD84-386F-0690-46D1AE15E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9862C-DE6F-1916-E1D0-CF540B6E6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AD058-B247-32A1-4FA1-1FA80BD6C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2260C-E02C-591A-F54F-1300B7A0D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857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289B3B-4727-BCEE-E3B6-D02D6FB2ED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145DA-98A1-F67F-10D5-B0D70F1BF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38B68-EE33-2E3E-0963-689F8717F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46B2F-6E66-21BC-B93A-8AD5F0DD9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72788-C325-CEE9-09EE-F1B5911C5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91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48AD9B-5AC8-0A17-7BAB-2767C4793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B9E2-BC8F-A2EE-418F-534B3A56F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EF3B8-F48A-43D8-D648-F9595BAF1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AE1959-0345-455D-8338-7812121EE75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7F390-ADFB-310D-4D94-C817887CC4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8A20A-6F08-C461-4F24-98DEF32CD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648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73C2803-7EF3-73CA-423A-3569A85BC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541" y="1122363"/>
            <a:ext cx="11666837" cy="2315520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DemoSat</a:t>
            </a:r>
            <a:r>
              <a:rPr lang="en-US" b="1" dirty="0">
                <a:solidFill>
                  <a:schemeClr val="bg1"/>
                </a:solidFill>
              </a:rPr>
              <a:t>: Machine Learning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CA660EF-EE6F-AFAA-FC58-D973B08DD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Flight Readiness Review</a:t>
            </a:r>
          </a:p>
          <a:p>
            <a:endParaRPr lang="en-US" b="1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Arian </a:t>
            </a:r>
            <a:r>
              <a:rPr lang="en-US" b="1" err="1">
                <a:solidFill>
                  <a:schemeClr val="bg1"/>
                </a:solidFill>
              </a:rPr>
              <a:t>Rasoli</a:t>
            </a:r>
            <a:endParaRPr lang="en-US" b="1" dirty="0" err="1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11.4.25</a:t>
            </a:r>
          </a:p>
        </p:txBody>
      </p:sp>
    </p:spTree>
    <p:extLst>
      <p:ext uri="{BB962C8B-B14F-4D97-AF65-F5344CB8AC3E}">
        <p14:creationId xmlns:p14="http://schemas.microsoft.com/office/powerpoint/2010/main" val="368098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A6EAD-7E63-015E-B459-0D4837F7D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D8F23D-4D21-2965-B24C-1FB80A812D3C}"/>
              </a:ext>
            </a:extLst>
          </p:cNvPr>
          <p:cNvSpPr txBox="1"/>
          <p:nvPr/>
        </p:nvSpPr>
        <p:spPr>
          <a:xfrm>
            <a:off x="565532" y="283100"/>
            <a:ext cx="108405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Mission Overview</a:t>
            </a:r>
          </a:p>
        </p:txBody>
      </p:sp>
      <p:pic>
        <p:nvPicPr>
          <p:cNvPr id="4" name="Picture 3" descr="A black and white text&#10;&#10;AI-generated content may be incorrect.">
            <a:extLst>
              <a:ext uri="{FF2B5EF4-FFF2-40B4-BE49-F238E27FC236}">
                <a16:creationId xmlns:a16="http://schemas.microsoft.com/office/drawing/2014/main" id="{2BE3042D-DB0E-3875-6B35-506F60866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51" y="950746"/>
            <a:ext cx="10214919" cy="571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63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8F4A0-29C2-5E3B-A213-132283B34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B241CB-3833-E495-9EB0-1FCE686397F7}"/>
              </a:ext>
            </a:extLst>
          </p:cNvPr>
          <p:cNvSpPr txBox="1"/>
          <p:nvPr/>
        </p:nvSpPr>
        <p:spPr>
          <a:xfrm>
            <a:off x="565532" y="360404"/>
            <a:ext cx="1084059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Design Overview: Hardware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C94A6-CB53-72C6-8F2C-0934A1D34436}"/>
              </a:ext>
            </a:extLst>
          </p:cNvPr>
          <p:cNvSpPr txBox="1"/>
          <p:nvPr/>
        </p:nvSpPr>
        <p:spPr>
          <a:xfrm>
            <a:off x="565531" y="1724037"/>
            <a:ext cx="10838331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2" name="Picture 1" descr="A circuit board with wires and numbers&#10;&#10;AI-generated content may be incorrect.">
            <a:extLst>
              <a:ext uri="{FF2B5EF4-FFF2-40B4-BE49-F238E27FC236}">
                <a16:creationId xmlns:a16="http://schemas.microsoft.com/office/drawing/2014/main" id="{600FD960-836D-E290-D668-452D4A9D9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88" y="1354020"/>
            <a:ext cx="6455041" cy="5007024"/>
          </a:xfrm>
          <a:prstGeom prst="rect">
            <a:avLst/>
          </a:prstGeom>
        </p:spPr>
      </p:pic>
      <p:pic>
        <p:nvPicPr>
          <p:cNvPr id="5" name="Picture 4" descr="A diagram of a box&#10;&#10;AI-generated content may be incorrect.">
            <a:extLst>
              <a:ext uri="{FF2B5EF4-FFF2-40B4-BE49-F238E27FC236}">
                <a16:creationId xmlns:a16="http://schemas.microsoft.com/office/drawing/2014/main" id="{80F5BDC4-D469-4777-E914-31773EEC2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806" y="1729063"/>
            <a:ext cx="5348909" cy="375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043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00A50-9F85-6410-C95D-7EA3BBD48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548" y="69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Design Overview: Software</a:t>
            </a:r>
          </a:p>
        </p:txBody>
      </p:sp>
      <p:pic>
        <p:nvPicPr>
          <p:cNvPr id="6" name="Picture 5" descr="A diagram of a process&#10;&#10;AI-generated content may be incorrect.">
            <a:extLst>
              <a:ext uri="{FF2B5EF4-FFF2-40B4-BE49-F238E27FC236}">
                <a16:creationId xmlns:a16="http://schemas.microsoft.com/office/drawing/2014/main" id="{71ECC3E2-8F5A-87AA-50B1-6E26403EB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66" y="952705"/>
            <a:ext cx="10794311" cy="579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976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C0484-F232-2194-92C1-F214D27B0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B135C7-35C6-5E60-A185-1DEC3D7AE405}"/>
              </a:ext>
            </a:extLst>
          </p:cNvPr>
          <p:cNvSpPr txBox="1"/>
          <p:nvPr/>
        </p:nvSpPr>
        <p:spPr>
          <a:xfrm>
            <a:off x="565532" y="581274"/>
            <a:ext cx="1084059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Test Results: Cold Test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CA28F50-EB16-366B-4341-9C8B8345B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75" y="1406466"/>
            <a:ext cx="7564783" cy="3194722"/>
          </a:xfrm>
          <a:prstGeom prst="rect">
            <a:avLst/>
          </a:prstGeom>
        </p:spPr>
      </p:pic>
      <p:pic>
        <p:nvPicPr>
          <p:cNvPr id="7" name="Picture 6" descr="A white box with a blue light&#10;&#10;AI-generated content may be incorrect.">
            <a:extLst>
              <a:ext uri="{FF2B5EF4-FFF2-40B4-BE49-F238E27FC236}">
                <a16:creationId xmlns:a16="http://schemas.microsoft.com/office/drawing/2014/main" id="{784C32EE-15D6-4D2B-0C8F-FB91D3362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9619" y="1404523"/>
            <a:ext cx="3693630" cy="31986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EF1BD1-7551-7362-B4F7-A3DEF05B8186}"/>
              </a:ext>
            </a:extLst>
          </p:cNvPr>
          <p:cNvSpPr txBox="1"/>
          <p:nvPr/>
        </p:nvSpPr>
        <p:spPr>
          <a:xfrm>
            <a:off x="304485" y="5051247"/>
            <a:ext cx="1156798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-    The cold test was performed on,  10/31/2025, and stayed on during the duration of the test. 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The developed payload withstood temperatures of up to –10 C, however, this isn't the ideal temperature as the flight conditions can drop down to –60 C during the November 8th flight. 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I intend to do a cold test again on 11/7/2025.</a:t>
            </a:r>
          </a:p>
        </p:txBody>
      </p:sp>
    </p:spTree>
    <p:extLst>
      <p:ext uri="{BB962C8B-B14F-4D97-AF65-F5344CB8AC3E}">
        <p14:creationId xmlns:p14="http://schemas.microsoft.com/office/powerpoint/2010/main" val="1803186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3FEBF-0584-EA86-03CD-6E741282A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8420BA-CA06-C646-D282-F2097ABC5019}"/>
              </a:ext>
            </a:extLst>
          </p:cNvPr>
          <p:cNvSpPr txBox="1"/>
          <p:nvPr/>
        </p:nvSpPr>
        <p:spPr>
          <a:xfrm>
            <a:off x="565532" y="581274"/>
            <a:ext cx="1084059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Test Results: Bench</a:t>
            </a:r>
            <a:r>
              <a:rPr lang="en-US" sz="4800" b="1" dirty="0">
                <a:solidFill>
                  <a:schemeClr val="bg1"/>
                </a:solidFill>
              </a:rPr>
              <a:t> </a:t>
            </a:r>
            <a:r>
              <a:rPr lang="en-US" sz="4800" dirty="0">
                <a:solidFill>
                  <a:schemeClr val="bg1"/>
                </a:solidFill>
              </a:rPr>
              <a:t>Test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7C826E-C613-0F21-83D2-5B8114BA9B0F}"/>
              </a:ext>
            </a:extLst>
          </p:cNvPr>
          <p:cNvSpPr txBox="1"/>
          <p:nvPr/>
        </p:nvSpPr>
        <p:spPr>
          <a:xfrm>
            <a:off x="328662" y="1528377"/>
            <a:ext cx="5438853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- The bench test was performed on 10/31/2025 and successfully demonstrated that all systems were functioning as intended. </a:t>
            </a: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-  This also ensures that the components inside the payload are properly secured 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Minimizing the impact of environmental factors, such as turbulence, in the event of a loose connection.</a:t>
            </a:r>
          </a:p>
          <a:p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1B689E-2A92-E14A-DD8B-601857B23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729" y="1530668"/>
            <a:ext cx="6004097" cy="453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294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A85C5-DA40-E56C-4CF6-CFE0A34A2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8D5D1D-C436-B9C0-49F4-0B52519E73AB}"/>
              </a:ext>
            </a:extLst>
          </p:cNvPr>
          <p:cNvSpPr txBox="1"/>
          <p:nvPr/>
        </p:nvSpPr>
        <p:spPr>
          <a:xfrm>
            <a:off x="565532" y="581274"/>
            <a:ext cx="1084059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Predicted Data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D9B143-32DE-5EEA-6433-8364A91517D0}"/>
              </a:ext>
            </a:extLst>
          </p:cNvPr>
          <p:cNvSpPr txBox="1"/>
          <p:nvPr/>
        </p:nvSpPr>
        <p:spPr>
          <a:xfrm>
            <a:off x="606691" y="1693133"/>
            <a:ext cx="1083463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dirty="0">
                <a:solidFill>
                  <a:schemeClr val="bg1"/>
                </a:solidFill>
              </a:rPr>
              <a:t>The BME280 sensor will accurately gather temperature and pressure data throughout the flight, with all readings stored inside of an </a:t>
            </a:r>
            <a:r>
              <a:rPr lang="en-US" dirty="0" err="1">
                <a:solidFill>
                  <a:schemeClr val="bg1"/>
                </a:solidFill>
              </a:rPr>
              <a:t>OpenLog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Calibri"/>
              <a:buChar char="-"/>
            </a:pPr>
            <a:r>
              <a:rPr lang="en-US" dirty="0">
                <a:solidFill>
                  <a:schemeClr val="bg1"/>
                </a:solidFill>
              </a:rPr>
              <a:t>The TinyML model will classify atmospheric layers in real time, with predictions aligning with expected altitude-pressure profiles.</a:t>
            </a:r>
          </a:p>
          <a:p>
            <a:pPr marL="285750" indent="-285750">
              <a:buFont typeface="Calibri"/>
              <a:buChar char="-"/>
            </a:pPr>
            <a:r>
              <a:rPr lang="en-US" dirty="0">
                <a:solidFill>
                  <a:schemeClr val="bg1"/>
                </a:solidFill>
              </a:rPr>
              <a:t>The embedded system will run continuously without crashes or inference issues, and all components will remain powered and stable under extreme flight conditions.</a:t>
            </a:r>
          </a:p>
          <a:p>
            <a:pPr marL="285750" indent="-285750">
              <a:buFont typeface="Calibri"/>
              <a:buChar char="-"/>
            </a:pPr>
            <a:r>
              <a:rPr lang="en-US" dirty="0">
                <a:solidFill>
                  <a:schemeClr val="bg1"/>
                </a:solidFill>
              </a:rPr>
              <a:t>Logged data will be recoverable post-flight from a stored microSD card for future analysis and validation against reference atmospheric models.</a:t>
            </a:r>
          </a:p>
        </p:txBody>
      </p:sp>
    </p:spTree>
    <p:extLst>
      <p:ext uri="{BB962C8B-B14F-4D97-AF65-F5344CB8AC3E}">
        <p14:creationId xmlns:p14="http://schemas.microsoft.com/office/powerpoint/2010/main" val="109647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AD9AE-F74D-2C8C-F5ED-A4399EC24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338B34-EF39-C181-B27D-56C9AEFD3F8E}"/>
              </a:ext>
            </a:extLst>
          </p:cNvPr>
          <p:cNvSpPr txBox="1"/>
          <p:nvPr/>
        </p:nvSpPr>
        <p:spPr>
          <a:xfrm>
            <a:off x="462707" y="603307"/>
            <a:ext cx="10840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What’s Left?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6E114CF-B507-35B1-0CA7-A34334EFD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203086"/>
              </p:ext>
            </p:extLst>
          </p:nvPr>
        </p:nvGraphicFramePr>
        <p:xfrm>
          <a:off x="1040839" y="1830293"/>
          <a:ext cx="9905161" cy="3611482"/>
        </p:xfrm>
        <a:graphic>
          <a:graphicData uri="http://schemas.openxmlformats.org/drawingml/2006/table">
            <a:tbl>
              <a:tblPr/>
              <a:tblGrid>
                <a:gridCol w="5273581">
                  <a:extLst>
                    <a:ext uri="{9D8B030D-6E8A-4147-A177-3AD203B41FA5}">
                      <a16:colId xmlns:a16="http://schemas.microsoft.com/office/drawing/2014/main" val="2735902408"/>
                    </a:ext>
                  </a:extLst>
                </a:gridCol>
                <a:gridCol w="2980720">
                  <a:extLst>
                    <a:ext uri="{9D8B030D-6E8A-4147-A177-3AD203B41FA5}">
                      <a16:colId xmlns:a16="http://schemas.microsoft.com/office/drawing/2014/main" val="2257542436"/>
                    </a:ext>
                  </a:extLst>
                </a:gridCol>
                <a:gridCol w="1650860">
                  <a:extLst>
                    <a:ext uri="{9D8B030D-6E8A-4147-A177-3AD203B41FA5}">
                      <a16:colId xmlns:a16="http://schemas.microsoft.com/office/drawing/2014/main" val="20903276"/>
                    </a:ext>
                  </a:extLst>
                </a:gridCol>
              </a:tblGrid>
              <a:tr h="36992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91"/>
                        </a:lnSpc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"/>
                        </a:rPr>
                        <a:t> Material/ Component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entury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Century"/>
                      </a:endParaRPr>
                    </a:p>
                  </a:txBody>
                  <a:tcPr anchor="b">
                    <a:lnL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791"/>
                        </a:lnSpc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"/>
                        </a:rPr>
                        <a:t>Integrated (Y/N)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entury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Century"/>
                      </a:endParaRPr>
                    </a:p>
                  </a:txBody>
                  <a:tcPr anchor="b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791"/>
                        </a:lnSpc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"/>
                        </a:rPr>
                        <a:t>Weight (g)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entury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Century"/>
                      </a:endParaRPr>
                    </a:p>
                  </a:txBody>
                  <a:tcPr anchor="b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973882"/>
                  </a:ext>
                </a:extLst>
              </a:tr>
              <a:tr h="420944">
                <a:tc>
                  <a:txBody>
                    <a:bodyPr/>
                    <a:lstStyle/>
                    <a:p>
                      <a:pPr algn="l" rtl="0" fontAlgn="auto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​Arduino Nano 33 BLE Sense Rev2</a:t>
                      </a:r>
                    </a:p>
                  </a:txBody>
                  <a:tcPr anchor="ctr">
                    <a:lnL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​Y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8.00​</a:t>
                      </a:r>
                    </a:p>
                  </a:txBody>
                  <a:tcPr anchor="ctr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080231"/>
                  </a:ext>
                </a:extLst>
              </a:tr>
              <a:tr h="459211">
                <a:tc>
                  <a:txBody>
                    <a:bodyPr/>
                    <a:lstStyle/>
                    <a:p>
                      <a:pPr algn="l" rtl="0" fontAlgn="auto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​BME280</a:t>
                      </a:r>
                    </a:p>
                  </a:txBody>
                  <a:tcPr anchor="ctr">
                    <a:lnL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​Y</a:t>
                      </a:r>
                    </a:p>
                  </a:txBody>
                  <a:tcPr anchor="ctr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​2.24</a:t>
                      </a:r>
                      <a:endParaRPr lang="en-US" dirty="0"/>
                    </a:p>
                  </a:txBody>
                  <a:tcPr anchor="ctr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343793"/>
                  </a:ext>
                </a:extLst>
              </a:tr>
              <a:tr h="459211">
                <a:tc>
                  <a:txBody>
                    <a:bodyPr/>
                    <a:lstStyle/>
                    <a:p>
                      <a:pPr algn="l" rtl="0" fontAlgn="auto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​9V battery</a:t>
                      </a:r>
                    </a:p>
                  </a:txBody>
                  <a:tcPr anchor="ctr">
                    <a:lnL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​Y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51</a:t>
                      </a:r>
                    </a:p>
                  </a:txBody>
                  <a:tcPr anchor="ctr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944378"/>
                  </a:ext>
                </a:extLst>
              </a:tr>
              <a:tr h="459211">
                <a:tc>
                  <a:txBody>
                    <a:bodyPr/>
                    <a:lstStyle/>
                    <a:p>
                      <a:pPr algn="l" rtl="0" fontAlgn="auto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​Box, Wires, LEDS, Aluminum Tape</a:t>
                      </a:r>
                    </a:p>
                  </a:txBody>
                  <a:tcPr anchor="ctr">
                    <a:lnL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​Y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​80</a:t>
                      </a:r>
                    </a:p>
                  </a:txBody>
                  <a:tcPr anchor="ctr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198288"/>
                  </a:ext>
                </a:extLst>
              </a:tr>
              <a:tr h="459210">
                <a:tc>
                  <a:txBody>
                    <a:bodyPr/>
                    <a:lstStyle/>
                    <a:p>
                      <a:pPr lvl="0" algn="l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OpenLog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23687">
                      <a:solidFill>
                        <a:srgbClr val="000000"/>
                      </a:solidFill>
                    </a:lnL>
                    <a:lnR w="7896">
                      <a:solidFill>
                        <a:srgbClr val="000000"/>
                      </a:solidFill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Y</a:t>
                      </a:r>
                      <a:endParaRPr lang="en-US"/>
                    </a:p>
                  </a:txBody>
                  <a:tcPr anchor="ctr">
                    <a:lnL w="7896">
                      <a:solidFill>
                        <a:srgbClr val="000000"/>
                      </a:solidFill>
                    </a:lnL>
                    <a:lnR w="7896">
                      <a:solidFill>
                        <a:srgbClr val="000000"/>
                      </a:solidFill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5.00</a:t>
                      </a:r>
                      <a:endParaRPr lang="en-US"/>
                    </a:p>
                  </a:txBody>
                  <a:tcPr anchor="ctr">
                    <a:lnL w="7896">
                      <a:solidFill>
                        <a:srgbClr val="000000"/>
                      </a:solidFill>
                    </a:lnL>
                    <a:lnR w="23687">
                      <a:solidFill>
                        <a:srgbClr val="000000"/>
                      </a:solidFill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232485"/>
                  </a:ext>
                </a:extLst>
              </a:tr>
              <a:tr h="459210">
                <a:tc>
                  <a:txBody>
                    <a:bodyPr/>
                    <a:lstStyle/>
                    <a:p>
                      <a:pPr lvl="0" algn="l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Hand warmers (1)</a:t>
                      </a:r>
                    </a:p>
                  </a:txBody>
                  <a:tcPr anchor="ctr">
                    <a:lnL w="23687">
                      <a:solidFill>
                        <a:srgbClr val="000000"/>
                      </a:solidFill>
                    </a:lnL>
                    <a:lnR w="7896">
                      <a:solidFill>
                        <a:srgbClr val="000000"/>
                      </a:solidFill>
                    </a:lnR>
                    <a:lnT w="7896">
                      <a:solidFill>
                        <a:srgbClr val="000000"/>
                      </a:solidFill>
                    </a:lnT>
                    <a:lnB w="789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791"/>
                        </a:lnSpc>
                        <a:buNone/>
                      </a:pP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7896">
                      <a:solidFill>
                        <a:srgbClr val="000000"/>
                      </a:solidFill>
                    </a:lnL>
                    <a:lnR w="7896">
                      <a:solidFill>
                        <a:srgbClr val="000000"/>
                      </a:solidFill>
                    </a:lnR>
                    <a:lnT w="7896">
                      <a:solidFill>
                        <a:srgbClr val="000000"/>
                      </a:solidFill>
                    </a:lnT>
                    <a:lnB w="789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32</a:t>
                      </a:r>
                    </a:p>
                  </a:txBody>
                  <a:tcPr anchor="ctr">
                    <a:lnL w="7896">
                      <a:solidFill>
                        <a:srgbClr val="000000"/>
                      </a:solidFill>
                    </a:lnL>
                    <a:lnR w="23687">
                      <a:solidFill>
                        <a:srgbClr val="000000"/>
                      </a:solidFill>
                    </a:lnR>
                    <a:lnT w="7896">
                      <a:solidFill>
                        <a:srgbClr val="000000"/>
                      </a:solidFill>
                    </a:lnT>
                    <a:lnB w="789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338421"/>
                  </a:ext>
                </a:extLst>
              </a:tr>
              <a:tr h="52456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93"/>
                        </a:lnSpc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Total=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178.24</a:t>
                      </a:r>
                    </a:p>
                  </a:txBody>
                  <a:tcPr anchor="ctr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482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6568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AE72B-7B0F-EFDB-1F75-A18CA1D71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Cost Summary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896401E-060E-FEB8-AB49-7A2427469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46602"/>
              </p:ext>
            </p:extLst>
          </p:nvPr>
        </p:nvGraphicFramePr>
        <p:xfrm>
          <a:off x="979055" y="1974455"/>
          <a:ext cx="9905158" cy="4079527"/>
        </p:xfrm>
        <a:graphic>
          <a:graphicData uri="http://schemas.openxmlformats.org/drawingml/2006/table">
            <a:tbl>
              <a:tblPr/>
              <a:tblGrid>
                <a:gridCol w="4520212">
                  <a:extLst>
                    <a:ext uri="{9D8B030D-6E8A-4147-A177-3AD203B41FA5}">
                      <a16:colId xmlns:a16="http://schemas.microsoft.com/office/drawing/2014/main" val="2735902408"/>
                    </a:ext>
                  </a:extLst>
                </a:gridCol>
                <a:gridCol w="2554902">
                  <a:extLst>
                    <a:ext uri="{9D8B030D-6E8A-4147-A177-3AD203B41FA5}">
                      <a16:colId xmlns:a16="http://schemas.microsoft.com/office/drawing/2014/main" val="2257542436"/>
                    </a:ext>
                  </a:extLst>
                </a:gridCol>
                <a:gridCol w="1415022">
                  <a:extLst>
                    <a:ext uri="{9D8B030D-6E8A-4147-A177-3AD203B41FA5}">
                      <a16:colId xmlns:a16="http://schemas.microsoft.com/office/drawing/2014/main" val="20903276"/>
                    </a:ext>
                  </a:extLst>
                </a:gridCol>
                <a:gridCol w="1415022">
                  <a:extLst>
                    <a:ext uri="{9D8B030D-6E8A-4147-A177-3AD203B41FA5}">
                      <a16:colId xmlns:a16="http://schemas.microsoft.com/office/drawing/2014/main" val="2898562396"/>
                    </a:ext>
                  </a:extLst>
                </a:gridCol>
              </a:tblGrid>
              <a:tr h="36992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91"/>
                        </a:lnSpc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"/>
                        </a:rPr>
                        <a:t> Material/ Component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entury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Century"/>
                      </a:endParaRPr>
                    </a:p>
                  </a:txBody>
                  <a:tcPr anchor="b">
                    <a:lnL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entury"/>
                        </a:rPr>
                        <a:t>​Quantity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Century"/>
                      </a:endParaRPr>
                    </a:p>
                  </a:txBody>
                  <a:tcPr anchor="b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entury"/>
                        </a:rPr>
                        <a:t>Source</a:t>
                      </a:r>
                    </a:p>
                  </a:txBody>
                  <a:tcPr anchor="b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entury"/>
                        </a:rPr>
                        <a:t>Cost ($)</a:t>
                      </a:r>
                    </a:p>
                  </a:txBody>
                  <a:tcPr anchor="b">
                    <a:lnL w="7896">
                      <a:solidFill>
                        <a:srgbClr val="000000"/>
                      </a:solidFill>
                    </a:lnL>
                    <a:lnR w="23688">
                      <a:solidFill>
                        <a:srgbClr val="000000"/>
                      </a:solidFill>
                    </a:lnR>
                    <a:lnT w="23688">
                      <a:solidFill>
                        <a:srgbClr val="000000"/>
                      </a:solidFill>
                    </a:lnT>
                    <a:lnB w="7896">
                      <a:solidFill>
                        <a:srgbClr val="000000"/>
                      </a:solidFill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973882"/>
                  </a:ext>
                </a:extLst>
              </a:tr>
              <a:tr h="420944">
                <a:tc>
                  <a:txBody>
                    <a:bodyPr/>
                    <a:lstStyle/>
                    <a:p>
                      <a:pPr algn="l" rtl="0" fontAlgn="auto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Arduino Nano 33 BLE Sense Rev2</a:t>
                      </a:r>
                    </a:p>
                  </a:txBody>
                  <a:tcPr anchor="ctr">
                    <a:lnL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</a:t>
                      </a:r>
                      <a:endParaRPr lang="en-US" dirty="0"/>
                    </a:p>
                  </a:txBody>
                  <a:tcPr anchor="ctr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Arduino</a:t>
                      </a:r>
                    </a:p>
                  </a:txBody>
                  <a:tcPr anchor="ctr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49.97</a:t>
                      </a:r>
                    </a:p>
                  </a:txBody>
                  <a:tcPr anchor="ctr">
                    <a:lnL w="7896">
                      <a:solidFill>
                        <a:srgbClr val="000000"/>
                      </a:solidFill>
                    </a:lnL>
                    <a:lnR w="23688">
                      <a:solidFill>
                        <a:srgbClr val="000000"/>
                      </a:solidFill>
                    </a:lnR>
                    <a:lnT w="7896">
                      <a:solidFill>
                        <a:srgbClr val="000000"/>
                      </a:solidFill>
                    </a:lnT>
                    <a:lnB w="789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080231"/>
                  </a:ext>
                </a:extLst>
              </a:tr>
              <a:tr h="459211">
                <a:tc>
                  <a:txBody>
                    <a:bodyPr/>
                    <a:lstStyle/>
                    <a:p>
                      <a:pPr lvl="0" algn="l">
                        <a:lnSpc>
                          <a:spcPts val="1791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791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791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791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7896">
                      <a:solidFill>
                        <a:srgbClr val="000000"/>
                      </a:solidFill>
                    </a:lnL>
                    <a:lnR w="23688">
                      <a:solidFill>
                        <a:srgbClr val="000000"/>
                      </a:solidFill>
                    </a:lnR>
                    <a:lnT w="7896">
                      <a:solidFill>
                        <a:srgbClr val="000000"/>
                      </a:solidFill>
                    </a:lnT>
                    <a:lnB w="789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343793"/>
                  </a:ext>
                </a:extLst>
              </a:tr>
              <a:tr h="459211">
                <a:tc>
                  <a:txBody>
                    <a:bodyPr/>
                    <a:lstStyle/>
                    <a:p>
                      <a:pPr algn="l" rtl="0" fontAlgn="auto">
                        <a:lnSpc>
                          <a:spcPts val="1791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791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791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791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7896">
                      <a:solidFill>
                        <a:srgbClr val="000000"/>
                      </a:solidFill>
                    </a:lnL>
                    <a:lnR w="23688">
                      <a:solidFill>
                        <a:srgbClr val="000000"/>
                      </a:solidFill>
                    </a:lnR>
                    <a:lnT w="7896">
                      <a:solidFill>
                        <a:srgbClr val="000000"/>
                      </a:solidFill>
                    </a:lnT>
                    <a:lnB w="789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944378"/>
                  </a:ext>
                </a:extLst>
              </a:tr>
              <a:tr h="459211">
                <a:tc>
                  <a:txBody>
                    <a:bodyPr/>
                    <a:lstStyle/>
                    <a:p>
                      <a:pPr algn="l" rtl="0" fontAlgn="auto">
                        <a:lnSpc>
                          <a:spcPts val="1791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791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791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791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7896">
                      <a:solidFill>
                        <a:srgbClr val="000000"/>
                      </a:solidFill>
                    </a:lnL>
                    <a:lnR w="23688">
                      <a:solidFill>
                        <a:srgbClr val="000000"/>
                      </a:solidFill>
                    </a:lnR>
                    <a:lnT w="7896">
                      <a:solidFill>
                        <a:srgbClr val="000000"/>
                      </a:solidFill>
                    </a:lnT>
                    <a:lnB w="789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198288"/>
                  </a:ext>
                </a:extLst>
              </a:tr>
              <a:tr h="459210">
                <a:tc>
                  <a:txBody>
                    <a:bodyPr/>
                    <a:lstStyle/>
                    <a:p>
                      <a:pPr lvl="0" algn="l" rtl="0">
                        <a:lnSpc>
                          <a:spcPts val="1791"/>
                        </a:lnSpc>
                        <a:buNone/>
                      </a:pP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23688">
                      <a:solidFill>
                        <a:srgbClr val="000000"/>
                      </a:solidFill>
                    </a:lnL>
                    <a:lnR w="7896">
                      <a:solidFill>
                        <a:srgbClr val="000000"/>
                      </a:solidFill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791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7896">
                      <a:solidFill>
                        <a:srgbClr val="000000"/>
                      </a:solidFill>
                    </a:lnL>
                    <a:lnR w="7896">
                      <a:solidFill>
                        <a:srgbClr val="000000"/>
                      </a:solidFill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791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7896">
                      <a:solidFill>
                        <a:srgbClr val="000000"/>
                      </a:solidFill>
                    </a:lnL>
                    <a:lnR w="7896">
                      <a:solidFill>
                        <a:srgbClr val="000000"/>
                      </a:solidFill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9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791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7896">
                      <a:solidFill>
                        <a:srgbClr val="000000"/>
                      </a:solidFill>
                    </a:lnL>
                    <a:lnR w="23687">
                      <a:solidFill>
                        <a:srgbClr val="000000"/>
                      </a:solidFill>
                    </a:lnR>
                    <a:lnT w="7896">
                      <a:solidFill>
                        <a:srgbClr val="000000"/>
                      </a:solidFill>
                    </a:lnT>
                    <a:lnB w="789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304505"/>
                  </a:ext>
                </a:extLst>
              </a:tr>
              <a:tr h="459210">
                <a:tc>
                  <a:txBody>
                    <a:bodyPr/>
                    <a:lstStyle/>
                    <a:p>
                      <a:pPr lvl="0" algn="l">
                        <a:lnSpc>
                          <a:spcPts val="1791"/>
                        </a:lnSpc>
                        <a:buNone/>
                      </a:pP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23687">
                      <a:solidFill>
                        <a:srgbClr val="000000"/>
                      </a:solidFill>
                    </a:lnL>
                    <a:lnR w="7896">
                      <a:solidFill>
                        <a:srgbClr val="000000"/>
                      </a:solidFill>
                    </a:lnR>
                    <a:lnT w="7896">
                      <a:solidFill>
                        <a:srgbClr val="000000"/>
                      </a:solidFill>
                    </a:lnT>
                    <a:lnB w="789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791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7896">
                      <a:solidFill>
                        <a:srgbClr val="000000"/>
                      </a:solidFill>
                    </a:lnL>
                    <a:lnR w="7896">
                      <a:solidFill>
                        <a:srgbClr val="000000"/>
                      </a:solidFill>
                    </a:lnR>
                    <a:lnT w="7896">
                      <a:solidFill>
                        <a:srgbClr val="000000"/>
                      </a:solidFill>
                    </a:lnT>
                    <a:lnB w="789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791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7896">
                      <a:solidFill>
                        <a:srgbClr val="000000"/>
                      </a:solidFill>
                    </a:lnL>
                    <a:lnR w="7896">
                      <a:solidFill>
                        <a:srgbClr val="000000"/>
                      </a:solidFill>
                    </a:lnR>
                    <a:lnT w="7896">
                      <a:solidFill>
                        <a:srgbClr val="000000"/>
                      </a:solidFill>
                    </a:lnT>
                    <a:lnB w="789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791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7896">
                      <a:solidFill>
                        <a:srgbClr val="000000"/>
                      </a:solidFill>
                    </a:lnL>
                    <a:lnR w="23687">
                      <a:solidFill>
                        <a:srgbClr val="000000"/>
                      </a:solidFill>
                    </a:lnR>
                    <a:lnT w="7896">
                      <a:solidFill>
                        <a:srgbClr val="000000"/>
                      </a:solidFill>
                    </a:lnT>
                    <a:lnB w="789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232485"/>
                  </a:ext>
                </a:extLst>
              </a:tr>
              <a:tr h="459210">
                <a:tc>
                  <a:txBody>
                    <a:bodyPr/>
                    <a:lstStyle/>
                    <a:p>
                      <a:pPr lvl="0" algn="l">
                        <a:lnSpc>
                          <a:spcPts val="1791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23687">
                      <a:solidFill>
                        <a:srgbClr val="000000"/>
                      </a:solidFill>
                    </a:lnL>
                    <a:lnR w="7896">
                      <a:solidFill>
                        <a:srgbClr val="000000"/>
                      </a:solidFill>
                    </a:lnR>
                    <a:lnT w="7896">
                      <a:solidFill>
                        <a:srgbClr val="000000"/>
                      </a:solidFill>
                    </a:lnT>
                    <a:lnB w="789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791"/>
                        </a:lnSpc>
                        <a:buNone/>
                      </a:pP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7896">
                      <a:solidFill>
                        <a:srgbClr val="000000"/>
                      </a:solidFill>
                    </a:lnL>
                    <a:lnR w="7896">
                      <a:solidFill>
                        <a:srgbClr val="000000"/>
                      </a:solidFill>
                    </a:lnR>
                    <a:lnT w="7896">
                      <a:solidFill>
                        <a:srgbClr val="000000"/>
                      </a:solidFill>
                    </a:lnT>
                    <a:lnB w="789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791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7896">
                      <a:solidFill>
                        <a:srgbClr val="000000"/>
                      </a:solidFill>
                    </a:lnL>
                    <a:lnR w="7896">
                      <a:solidFill>
                        <a:srgbClr val="000000"/>
                      </a:solidFill>
                    </a:lnR>
                    <a:lnT w="7896">
                      <a:solidFill>
                        <a:srgbClr val="000000"/>
                      </a:solidFill>
                    </a:lnT>
                    <a:lnB w="789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791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7896">
                      <a:solidFill>
                        <a:srgbClr val="000000"/>
                      </a:solidFill>
                    </a:lnL>
                    <a:lnR w="23687">
                      <a:solidFill>
                        <a:srgbClr val="000000"/>
                      </a:solidFill>
                    </a:lnR>
                    <a:lnT w="7896">
                      <a:solidFill>
                        <a:srgbClr val="000000"/>
                      </a:solidFill>
                    </a:lnT>
                    <a:lnB w="789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338421"/>
                  </a:ext>
                </a:extLst>
              </a:tr>
              <a:tr h="52456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93"/>
                        </a:lnSpc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Total=</a:t>
                      </a: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</a:p>
                    <a:p>
                      <a:pPr lvl="0" algn="ctr">
                        <a:lnSpc>
                          <a:spcPts val="1791"/>
                        </a:lnSpc>
                        <a:buNone/>
                      </a:pP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36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791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49.97</a:t>
                      </a:r>
                    </a:p>
                  </a:txBody>
                  <a:tcPr anchor="ctr">
                    <a:lnL w="7896">
                      <a:solidFill>
                        <a:srgbClr val="000000"/>
                      </a:solidFill>
                    </a:lnL>
                    <a:lnR w="23688">
                      <a:solidFill>
                        <a:srgbClr val="000000"/>
                      </a:solidFill>
                    </a:lnR>
                    <a:lnT w="7896">
                      <a:solidFill>
                        <a:srgbClr val="000000"/>
                      </a:solidFill>
                    </a:lnT>
                    <a:lnB w="23688">
                      <a:solidFill>
                        <a:srgbClr val="000000"/>
                      </a:solidFill>
                    </a:lnB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482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0386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6883-1103-F1D3-E124-65F13F28B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80151-3263-A9FD-DA3C-BA6F0305D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Professor Jones</a:t>
            </a:r>
          </a:p>
          <a:p>
            <a:r>
              <a:rPr lang="en-US" dirty="0">
                <a:solidFill>
                  <a:schemeClr val="bg1"/>
                </a:solidFill>
              </a:rPr>
              <a:t>Professor </a:t>
            </a:r>
            <a:r>
              <a:rPr lang="en-US" dirty="0" err="1">
                <a:solidFill>
                  <a:schemeClr val="bg1"/>
                </a:solidFill>
              </a:rPr>
              <a:t>Wikowsky</a:t>
            </a:r>
          </a:p>
          <a:p>
            <a:r>
              <a:rPr lang="en-US" dirty="0">
                <a:solidFill>
                  <a:schemeClr val="bg1"/>
                </a:solidFill>
              </a:rPr>
              <a:t>Colorado Space Grant Consortium</a:t>
            </a:r>
          </a:p>
        </p:txBody>
      </p:sp>
    </p:spTree>
    <p:extLst>
      <p:ext uri="{BB962C8B-B14F-4D97-AF65-F5344CB8AC3E}">
        <p14:creationId xmlns:p14="http://schemas.microsoft.com/office/powerpoint/2010/main" val="215172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7fffbac-3411-4757-823a-b3c675efd3eb">
      <Terms xmlns="http://schemas.microsoft.com/office/infopath/2007/PartnerControls"/>
    </lcf76f155ced4ddcb4097134ff3c332f>
    <TaxCatchAll xmlns="c8fbb5d0-7590-4e0b-91c7-9c7049c2246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B7FBE526CC7E4A80940ED2E9C3E68F" ma:contentTypeVersion="22" ma:contentTypeDescription="Create a new document." ma:contentTypeScope="" ma:versionID="9d5b78fa260e03056e6bbb0c938f5778">
  <xsd:schema xmlns:xsd="http://www.w3.org/2001/XMLSchema" xmlns:xs="http://www.w3.org/2001/XMLSchema" xmlns:p="http://schemas.microsoft.com/office/2006/metadata/properties" xmlns:ns2="c8fbb5d0-7590-4e0b-91c7-9c7049c22468" xmlns:ns3="37fffbac-3411-4757-823a-b3c675efd3eb" targetNamespace="http://schemas.microsoft.com/office/2006/metadata/properties" ma:root="true" ma:fieldsID="6fef7513aa21e24b570d049e978ab42e" ns2:_="" ns3:_="">
    <xsd:import namespace="c8fbb5d0-7590-4e0b-91c7-9c7049c22468"/>
    <xsd:import namespace="37fffbac-3411-4757-823a-b3c675efd3e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CR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bb5d0-7590-4e0b-91c7-9c7049c224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2dc5d02-32cf-4b5f-a56c-e73e2c56a0e2}" ma:internalName="TaxCatchAll" ma:showField="CatchAllData" ma:web="c8fbb5d0-7590-4e0b-91c7-9c7049c224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fffbac-3411-4757-823a-b3c675efd3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a199682-18ee-4490-8928-55ce5e3413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A5734F-E3C9-4BED-9D49-C95556D317D1}">
  <ds:schemaRefs>
    <ds:schemaRef ds:uri="c406f6ab-c41c-471b-9c6d-1fb28ca55b9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37fffbac-3411-4757-823a-b3c675efd3eb"/>
    <ds:schemaRef ds:uri="c8fbb5d0-7590-4e0b-91c7-9c7049c22468"/>
  </ds:schemaRefs>
</ds:datastoreItem>
</file>

<file path=customXml/itemProps2.xml><?xml version="1.0" encoding="utf-8"?>
<ds:datastoreItem xmlns:ds="http://schemas.openxmlformats.org/officeDocument/2006/customXml" ds:itemID="{3DEADCCE-B5E7-4618-91A4-B9D9583C66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bb5d0-7590-4e0b-91c7-9c7049c22468"/>
    <ds:schemaRef ds:uri="37fffbac-3411-4757-823a-b3c675efd3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C9369C2-DCF3-4D8E-91F0-2FE4B419617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Century</vt:lpstr>
      <vt:lpstr>Office Theme</vt:lpstr>
      <vt:lpstr>DemoSat: Machine Learning</vt:lpstr>
      <vt:lpstr>PowerPoint Presentation</vt:lpstr>
      <vt:lpstr>PowerPoint Presentation</vt:lpstr>
      <vt:lpstr>Design Overview: Software</vt:lpstr>
      <vt:lpstr>PowerPoint Presentation</vt:lpstr>
      <vt:lpstr>PowerPoint Presentation</vt:lpstr>
      <vt:lpstr>PowerPoint Presentation</vt:lpstr>
      <vt:lpstr>PowerPoint Presentation</vt:lpstr>
      <vt:lpstr>Cost Summary</vt:lpstr>
      <vt:lpstr>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Zeller, Andrew</dc:creator>
  <cp:lastModifiedBy>Arian Rasoli</cp:lastModifiedBy>
  <cp:revision>219</cp:revision>
  <dcterms:created xsi:type="dcterms:W3CDTF">2025-07-28T03:27:03Z</dcterms:created>
  <dcterms:modified xsi:type="dcterms:W3CDTF">2025-11-04T15:37:24Z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0x01010010B7FBE526CC7E4A80940ED2E9C3E68F</vt:lpwstr>
  </property>
  <property fmtid="{D5CDD505-2E9C-101B-9397-08002B2CF9AE}" pid="3" name="MediaServiceImageTags">
    <vt:lpwstr/>
  </property>
</Properties>
</file>