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2" r:id="rId7"/>
    <p:sldId id="274" r:id="rId8"/>
    <p:sldId id="267" r:id="rId9"/>
    <p:sldId id="277" r:id="rId10"/>
    <p:sldId id="278" r:id="rId11"/>
    <p:sldId id="275" r:id="rId12"/>
    <p:sldId id="271" r:id="rId13"/>
    <p:sldId id="269" r:id="rId14"/>
    <p:sldId id="265" r:id="rId15"/>
    <p:sldId id="276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n Rasoli" userId="56bd07e470b850eb" providerId="LiveId" clId="{6AB7E044-F863-407C-A506-12ED88C2EC37}"/>
    <pc:docChg chg="custSel modSld">
      <pc:chgData name="Arian Rasoli" userId="56bd07e470b850eb" providerId="LiveId" clId="{6AB7E044-F863-407C-A506-12ED88C2EC37}" dt="2025-10-14T14:04:45.597" v="10" actId="1076"/>
      <pc:docMkLst>
        <pc:docMk/>
      </pc:docMkLst>
      <pc:sldChg chg="addSp delSp modSp mod">
        <pc:chgData name="Arian Rasoli" userId="56bd07e470b850eb" providerId="LiveId" clId="{6AB7E044-F863-407C-A506-12ED88C2EC37}" dt="2025-10-14T14:04:45.597" v="10" actId="1076"/>
        <pc:sldMkLst>
          <pc:docMk/>
          <pc:sldMk cId="1803186097" sldId="267"/>
        </pc:sldMkLst>
        <pc:picChg chg="add mod">
          <ac:chgData name="Arian Rasoli" userId="56bd07e470b850eb" providerId="LiveId" clId="{6AB7E044-F863-407C-A506-12ED88C2EC37}" dt="2025-10-14T14:04:45.597" v="10" actId="1076"/>
          <ac:picMkLst>
            <pc:docMk/>
            <pc:sldMk cId="1803186097" sldId="267"/>
            <ac:picMk id="4" creationId="{AAB5F8FF-0B71-9695-55E8-CD8636F0EB80}"/>
          </ac:picMkLst>
        </pc:picChg>
        <pc:picChg chg="add del mod">
          <ac:chgData name="Arian Rasoli" userId="56bd07e470b850eb" providerId="LiveId" clId="{6AB7E044-F863-407C-A506-12ED88C2EC37}" dt="2025-10-14T14:04:37.875" v="7" actId="478"/>
          <ac:picMkLst>
            <pc:docMk/>
            <pc:sldMk cId="1803186097" sldId="267"/>
            <ac:picMk id="5" creationId="{C5897DEE-EB91-5520-1AED-1F7981051F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8528-A10B-33B8-8F63-ED3645134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999B1-F3D1-ADF0-608C-2F35BAF6D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E13E2-F4F0-4E5B-7FE9-CF260715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0241C-51CF-138B-0425-3ACE4219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09BC-1F4A-0303-CBEF-7C842D95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7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B1AB-9B5F-E680-3690-29A4B99F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70751-A6AF-3D06-D278-10595C2CA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07FC-75C8-0190-B93B-CE3136AB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CF173-866B-E87C-57DB-11C969FF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1320-7CD5-2385-1B6E-88A9A3D9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7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7791-015D-0C56-7370-1DD2F305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81591-18C5-47B6-A856-CCD8BCA02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F235F-1BBC-8FFA-ECE7-0AD45DE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CCFCE-4ACB-D34C-D2B1-D66DB1B6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73909-27DF-BC68-400C-2863BAE7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8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93F7-8706-8F7C-2A82-0371B46A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6576-7BBB-7857-B14D-7229C8F22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06666-4AB0-75B5-9499-C2605D03B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49681-F3F0-A9DC-C42C-0516FF24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86F57-B9EC-57ED-7A38-84F96D60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10240-C9A0-5DBD-7663-529ADE4C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6472-D86A-5854-EF48-6281F2EC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BCC2-1753-13B1-7092-3B8BE7112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CB2DD-4442-1E4E-0F8D-0778E390D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BEFE1-BE8C-87AB-EF5E-1F38F68F7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A5790-EF0D-0FA6-B444-3408DAD52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F03A2-2DC5-CAA3-F247-2350CA9F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B3464-8AF9-3752-7A8E-636060BE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CF1A8-9798-3AEE-4DEE-DEC7995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DFC7-7CD4-4619-9D25-A96BBA37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C42F5-46EF-EC65-BC81-B685461C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6EE62-2546-FF5D-94CC-84A0F23A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30370-41A2-5C95-2004-92E3EE38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1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9517-0221-A846-0100-352130B8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4F13E-B9A5-9BF1-667D-773BD41B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772D5-92B8-ECA2-3E39-43B24AA4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0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AAC4-3A9F-E1D6-DBC4-ADE2984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92B2-2BFA-12FC-323C-2203BBB7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7406F-FA51-01C3-059A-216C9D977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8392B-9C2D-EBFC-2737-EC91592F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88C04-4BE9-1BBA-CCE3-CC2C5A92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3377D-42AB-C166-2771-B4AB82C8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0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A43F-B028-7563-C57C-49E1CF39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C24EA-C565-2CA1-9913-78D3FA5F4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1ACE2-22D3-9990-E40E-783BC3219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54AEA-873B-9D8E-2A7E-B3286F74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CA9BC-620D-275D-0755-AB3B7B31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CE7A4-56D7-9F16-0DB1-DC61375E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3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BCC1-2FB0-E4DA-AFDA-96E316F5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8D2AD-CD84-386F-0690-46D1AE15E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862C-DE6F-1916-E1D0-CF540B6E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D058-B247-32A1-4FA1-1FA80BD6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260C-E02C-591A-F54F-1300B7A0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5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89B3B-4727-BCEE-E3B6-D02D6FB2E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45DA-98A1-F67F-10D5-B0D70F1BF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8B68-EE33-2E3E-0963-689F8717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6B2F-6E66-21BC-B93A-8AD5F0DD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2788-C325-CEE9-09EE-F1B5911C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8AD9B-5AC8-0A17-7BAB-2767C479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B9E2-BC8F-A2EE-418F-534B3A56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F3B8-F48A-43D8-D648-F9595BAF1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E1959-0345-455D-8338-7812121EE750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7F390-ADFB-310D-4D94-C817887CC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A20A-6F08-C461-4F24-98DEF32CD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4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73C2803-7EF3-73CA-423A-3569A85BC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1380" y="955215"/>
            <a:ext cx="10009239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DemoSat</a:t>
            </a:r>
            <a:r>
              <a:rPr lang="en-US" b="1" dirty="0">
                <a:solidFill>
                  <a:schemeClr val="bg1"/>
                </a:solidFill>
              </a:rPr>
              <a:t>: Machine Learning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CA660EF-EE6F-AFAA-FC58-D973B08D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Critical Design Review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Arian Rasoli</a:t>
            </a:r>
          </a:p>
          <a:p>
            <a:r>
              <a:rPr lang="en-US" b="1" dirty="0">
                <a:solidFill>
                  <a:schemeClr val="bg1"/>
                </a:solidFill>
              </a:rPr>
              <a:t>10.13.2025</a:t>
            </a:r>
          </a:p>
        </p:txBody>
      </p:sp>
    </p:spTree>
    <p:extLst>
      <p:ext uri="{BB962C8B-B14F-4D97-AF65-F5344CB8AC3E}">
        <p14:creationId xmlns:p14="http://schemas.microsoft.com/office/powerpoint/2010/main" val="36809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6EAD-7E63-015E-B459-0D4837F7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D8F23D-4D21-2965-B24C-1FB80A812D3C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Mission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CAB38-F143-CEA9-9BF6-F7418517780B}"/>
              </a:ext>
            </a:extLst>
          </p:cNvPr>
          <p:cNvSpPr txBox="1"/>
          <p:nvPr/>
        </p:nvSpPr>
        <p:spPr>
          <a:xfrm>
            <a:off x="565532" y="1412271"/>
            <a:ext cx="94488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Design a robust atmospheric payload capable of detecting and measuring key atmospheric layers.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Feed measurements into a pre-trained tiny machine learning model trained on historical atmospheric data to classify the corresponding atmospheric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 predicts atmospheric layers from 0 through 5 for real-time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Ensure reliable payload functionality and proper error handling throughout the flight.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After flight, the use of Python will help us understand the data of real atmospheric layer measurements versus the model’s predicted classifications.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Create a tiny machine learning  model that can be reutilized for future use cases in </a:t>
            </a:r>
            <a:r>
              <a:rPr lang="en-US" sz="2400" dirty="0" err="1">
                <a:solidFill>
                  <a:schemeClr val="bg1"/>
                </a:solidFill>
              </a:rPr>
              <a:t>DemoSat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66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F4A0-29C2-5E3B-A213-132283B3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241CB-3833-E495-9EB0-1FCE686397F7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Mission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C94A6-CB53-72C6-8F2C-0934A1D34436}"/>
              </a:ext>
            </a:extLst>
          </p:cNvPr>
          <p:cNvSpPr txBox="1"/>
          <p:nvPr/>
        </p:nvSpPr>
        <p:spPr>
          <a:xfrm>
            <a:off x="565531" y="1724037"/>
            <a:ext cx="1083833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B3E8C5-FE68-D6C8-E769-4002B7FAA3B4}"/>
              </a:ext>
            </a:extLst>
          </p:cNvPr>
          <p:cNvSpPr>
            <a:spLocks noGrp="1"/>
          </p:cNvSpPr>
          <p:nvPr/>
        </p:nvSpPr>
        <p:spPr>
          <a:xfrm>
            <a:off x="565531" y="17240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Cost must be below $500</a:t>
            </a:r>
          </a:p>
          <a:p>
            <a:r>
              <a:rPr lang="en-US" dirty="0">
                <a:solidFill>
                  <a:schemeClr val="bg1"/>
                </a:solidFill>
              </a:rPr>
              <a:t>Temperature must withstand temperature down to -40 </a:t>
            </a: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ºC 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Payload weight must be below 800g</a:t>
            </a:r>
          </a:p>
          <a:p>
            <a:r>
              <a:rPr lang="en-US" dirty="0">
                <a:solidFill>
                  <a:schemeClr val="bg1"/>
                </a:solidFill>
              </a:rPr>
              <a:t>Pressure resistant at high altitudes</a:t>
            </a:r>
          </a:p>
          <a:p>
            <a:r>
              <a:rPr lang="en-US" dirty="0">
                <a:solidFill>
                  <a:schemeClr val="bg1"/>
                </a:solidFill>
              </a:rPr>
              <a:t>Battery must be able to withstand severe conditions</a:t>
            </a:r>
          </a:p>
          <a:p>
            <a:r>
              <a:rPr lang="en-US" dirty="0">
                <a:solidFill>
                  <a:schemeClr val="bg1"/>
                </a:solidFill>
              </a:rPr>
              <a:t>Post-Flight code data analysis</a:t>
            </a:r>
          </a:p>
          <a:p>
            <a:r>
              <a:rPr lang="en-US" dirty="0">
                <a:solidFill>
                  <a:schemeClr val="bg1"/>
                </a:solidFill>
              </a:rPr>
              <a:t>Develop documentation and code for future projects that might be done</a:t>
            </a:r>
          </a:p>
          <a:p>
            <a:r>
              <a:rPr lang="en-US" dirty="0">
                <a:solidFill>
                  <a:schemeClr val="bg1"/>
                </a:solidFill>
              </a:rPr>
              <a:t>Have a functioning/reliable </a:t>
            </a:r>
            <a:r>
              <a:rPr lang="en-US" dirty="0" err="1">
                <a:solidFill>
                  <a:schemeClr val="bg1"/>
                </a:solidFill>
              </a:rPr>
              <a:t>TinyML</a:t>
            </a:r>
            <a:r>
              <a:rPr lang="en-US" dirty="0">
                <a:solidFill>
                  <a:schemeClr val="bg1"/>
                </a:solidFill>
              </a:rPr>
              <a:t> model for layer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9104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226C-7589-52A9-80A9-9B18B6B3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Subsystem Requirements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BDC953-383F-D4AE-A31A-CF23F8EC816D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Power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Our power supply (9V Battery), must be able to withstand extreme conditions while being able to supply our systems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will need to power our: Switch, Arduino Nano 33 BLE Sense Rev2, and BMP280, and </a:t>
            </a:r>
            <a:r>
              <a:rPr lang="en-US" dirty="0" err="1">
                <a:solidFill>
                  <a:schemeClr val="bg1"/>
                </a:solidFill>
              </a:rPr>
              <a:t>OpenLog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Will be using built-in accelerometer sensor. </a:t>
            </a:r>
          </a:p>
        </p:txBody>
      </p:sp>
    </p:spTree>
    <p:extLst>
      <p:ext uri="{BB962C8B-B14F-4D97-AF65-F5344CB8AC3E}">
        <p14:creationId xmlns:p14="http://schemas.microsoft.com/office/powerpoint/2010/main" val="334064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0484-F232-2194-92C1-F214D27B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B135C7-35C6-5E60-A185-1DEC3D7AE405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Electronics Schematic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B5F8FF-0B71-9695-55E8-CD8636F0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205" y="1664605"/>
            <a:ext cx="6085589" cy="470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8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0567-959F-9339-4BAC-63BE99701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Machine Learning – Neural Network Pt.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55DD-CA5D-8322-BD3C-371BFF54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Sequential Model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Algorithm to process data in significant order.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Can interpret previous information given to understand and predict data.</a:t>
            </a:r>
          </a:p>
          <a:p>
            <a:r>
              <a:rPr lang="en-US" dirty="0">
                <a:solidFill>
                  <a:schemeClr val="bg1"/>
                </a:solidFill>
              </a:rPr>
              <a:t>Architecture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Input: 2 features [Pressure (</a:t>
            </a:r>
            <a:r>
              <a:rPr lang="en-US" dirty="0" err="1">
                <a:solidFill>
                  <a:schemeClr val="bg1"/>
                </a:solidFill>
              </a:rPr>
              <a:t>hPa</a:t>
            </a:r>
            <a:r>
              <a:rPr lang="en-US" dirty="0">
                <a:solidFill>
                  <a:schemeClr val="bg1"/>
                </a:solidFill>
              </a:rPr>
              <a:t>), Temperature (C)]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Hidden Layer: 32 input neuron, </a:t>
            </a:r>
            <a:r>
              <a:rPr lang="en-US" dirty="0" err="1">
                <a:solidFill>
                  <a:schemeClr val="bg1"/>
                </a:solidFill>
              </a:rPr>
              <a:t>ReLU</a:t>
            </a:r>
            <a:r>
              <a:rPr lang="en-US" dirty="0">
                <a:solidFill>
                  <a:schemeClr val="bg1"/>
                </a:solidFill>
              </a:rPr>
              <a:t> Activation</a:t>
            </a:r>
          </a:p>
          <a:p>
            <a:pPr lvl="2"/>
            <a:r>
              <a:rPr lang="en-US" dirty="0" err="1">
                <a:solidFill>
                  <a:schemeClr val="bg1"/>
                </a:solidFill>
              </a:rPr>
              <a:t>ReLU</a:t>
            </a:r>
            <a:r>
              <a:rPr lang="en-US" dirty="0">
                <a:solidFill>
                  <a:schemeClr val="bg1"/>
                </a:solidFill>
              </a:rPr>
              <a:t>: Activates neurons only for positive inputs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Helps neural network learn complex patterns in data.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Output: 6 output </a:t>
            </a:r>
            <a:r>
              <a:rPr lang="en-US" dirty="0" err="1">
                <a:solidFill>
                  <a:schemeClr val="bg1"/>
                </a:solidFill>
              </a:rPr>
              <a:t>softmax</a:t>
            </a:r>
            <a:r>
              <a:rPr lang="en-US" dirty="0">
                <a:solidFill>
                  <a:schemeClr val="bg1"/>
                </a:solidFill>
              </a:rPr>
              <a:t> probability.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Softmax: converts outputs into probabilities that sum to 1.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Each index in array represent the likelihood of payloads current layer.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84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87ED-3304-368E-CE7D-EE49ED30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Machine Learning – Neural Network Pt.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78C4C-83E9-B6F2-99DC-138CD7DEA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270" y="2204607"/>
            <a:ext cx="11297460" cy="24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5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FEBF-0584-EA86-03CD-6E741282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420BA-CA06-C646-D282-F2097ABC5019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Commands and Sensors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0F5FBF3-DD5B-D035-2BFE-56DBA9FF91C1}"/>
              </a:ext>
            </a:extLst>
          </p:cNvPr>
          <p:cNvSpPr>
            <a:spLocks noGrp="1"/>
          </p:cNvSpPr>
          <p:nvPr/>
        </p:nvSpPr>
        <p:spPr>
          <a:xfrm>
            <a:off x="728030" y="15344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When Switch == 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collection starts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BMP280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Feed this data:  temperature and pressure to model.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From each data collected, saved onto an SD card.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I only intend to use one 8gb SD Card for this experiment</a:t>
            </a:r>
          </a:p>
          <a:p>
            <a:r>
              <a:rPr lang="en-US" dirty="0">
                <a:solidFill>
                  <a:schemeClr val="bg1"/>
                </a:solidFill>
              </a:rPr>
              <a:t>When Switch == OFF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collection is NULL</a:t>
            </a:r>
          </a:p>
        </p:txBody>
      </p:sp>
    </p:spTree>
    <p:extLst>
      <p:ext uri="{BB962C8B-B14F-4D97-AF65-F5344CB8AC3E}">
        <p14:creationId xmlns:p14="http://schemas.microsoft.com/office/powerpoint/2010/main" val="403429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FA3A-6073-93B8-B027-3A31DAB0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275DF4-A7AE-D5E5-3F1F-CCAE1119E33A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Testing Plans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EABCCB-859F-850F-2AD7-245A478A3B01}"/>
              </a:ext>
            </a:extLst>
          </p:cNvPr>
          <p:cNvSpPr>
            <a:spLocks noGrp="1"/>
          </p:cNvSpPr>
          <p:nvPr/>
        </p:nvSpPr>
        <p:spPr>
          <a:xfrm>
            <a:off x="565532" y="17910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Battery Capability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Environmental testing, Pressure testing</a:t>
            </a:r>
          </a:p>
          <a:p>
            <a:r>
              <a:rPr lang="en-US" dirty="0">
                <a:solidFill>
                  <a:schemeClr val="bg1"/>
                </a:solidFill>
              </a:rPr>
              <a:t>Sensors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test, Functionality, Environmental </a:t>
            </a:r>
          </a:p>
          <a:p>
            <a:r>
              <a:rPr lang="en-US" dirty="0">
                <a:solidFill>
                  <a:schemeClr val="bg1"/>
                </a:solidFill>
              </a:rPr>
              <a:t>LEDs/Switch Functions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Whip, Drop,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19074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85C5-DA40-E56C-4CF6-CFE0A34A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D5D1D-C436-B9C0-49F4-0B52519E73AB}"/>
              </a:ext>
            </a:extLst>
          </p:cNvPr>
          <p:cNvSpPr txBox="1"/>
          <p:nvPr/>
        </p:nvSpPr>
        <p:spPr>
          <a:xfrm>
            <a:off x="565532" y="581274"/>
            <a:ext cx="108405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Parts List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B9BABC-965F-C82A-8531-200A7C380342}"/>
              </a:ext>
            </a:extLst>
          </p:cNvPr>
          <p:cNvSpPr>
            <a:spLocks noGrp="1"/>
          </p:cNvSpPr>
          <p:nvPr/>
        </p:nvSpPr>
        <p:spPr>
          <a:xfrm>
            <a:off x="838200" y="17108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9V battery</a:t>
            </a:r>
          </a:p>
          <a:p>
            <a:r>
              <a:rPr lang="en-US" dirty="0">
                <a:solidFill>
                  <a:schemeClr val="bg1"/>
                </a:solidFill>
              </a:rPr>
              <a:t>Sensors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OpenLog</a:t>
            </a:r>
            <a:r>
              <a:rPr lang="en-US" dirty="0">
                <a:solidFill>
                  <a:schemeClr val="bg1"/>
                </a:solidFill>
              </a:rPr>
              <a:t> (SD card reader)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BMP280 (Pressure &amp; Temp sensor)</a:t>
            </a:r>
          </a:p>
          <a:p>
            <a:r>
              <a:rPr lang="en-US" dirty="0">
                <a:solidFill>
                  <a:schemeClr val="bg1"/>
                </a:solidFill>
              </a:rPr>
              <a:t>Microcontrollers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Arduino Nano 33 BLE Sense Rev2</a:t>
            </a:r>
          </a:p>
          <a:p>
            <a:r>
              <a:rPr lang="en-US" dirty="0">
                <a:solidFill>
                  <a:schemeClr val="bg1"/>
                </a:solidFill>
              </a:rPr>
              <a:t>Box : Most likely will settle with 3x3 or 4x4 (maybe even smaller)</a:t>
            </a:r>
          </a:p>
        </p:txBody>
      </p:sp>
    </p:spTree>
    <p:extLst>
      <p:ext uri="{BB962C8B-B14F-4D97-AF65-F5344CB8AC3E}">
        <p14:creationId xmlns:p14="http://schemas.microsoft.com/office/powerpoint/2010/main" val="10964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D9AE-F74D-2C8C-F5ED-A4399EC2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338B34-EF39-C181-B27D-56C9AEFD3F8E}"/>
              </a:ext>
            </a:extLst>
          </p:cNvPr>
          <p:cNvSpPr txBox="1"/>
          <p:nvPr/>
        </p:nvSpPr>
        <p:spPr>
          <a:xfrm>
            <a:off x="462707" y="603307"/>
            <a:ext cx="10840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Expected Results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CAF5D7-4978-A7EC-B23F-16594374E7A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model is expected to accurately identify the atmospheric layer the payload is currently in based on sensor readings.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will provide layer transitions (Surface, Troposphere, Stratosphere) as the payload ascends.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Based on the current accuracy of the model, I predict the model will successfully classify atmospheric layers &gt;90% of the time under flight conditions. </a:t>
            </a:r>
          </a:p>
        </p:txBody>
      </p:sp>
    </p:spTree>
    <p:extLst>
      <p:ext uri="{BB962C8B-B14F-4D97-AF65-F5344CB8AC3E}">
        <p14:creationId xmlns:p14="http://schemas.microsoft.com/office/powerpoint/2010/main" val="336656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39C5-F2DD-2EB1-F0F0-9C0E5747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D219D1-B9B9-D4E2-9DC0-89C2FFE99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Arian Rasoli - Team Lead, Embedded AI Systems Engineer.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Current Schedule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PDR: 9.17.2025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CDR: 10.14.2025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FRR:  11.3.2025 – 11.5.2025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Launch: 11.8.2025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Final Report Due: 12.12.2025</a:t>
            </a:r>
          </a:p>
        </p:txBody>
      </p:sp>
    </p:spTree>
    <p:extLst>
      <p:ext uri="{BB962C8B-B14F-4D97-AF65-F5344CB8AC3E}">
        <p14:creationId xmlns:p14="http://schemas.microsoft.com/office/powerpoint/2010/main" val="1265576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883-1103-F1D3-E124-65F13F28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3A4C96-4F55-93CC-7FF4-D276DAD6F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695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expect to have a viable system that will collect basic atmospheric weather conditions and pass it into a model for atmospheric layer classification.</a:t>
            </a:r>
          </a:p>
          <a:p>
            <a:r>
              <a:rPr lang="en-US" dirty="0">
                <a:solidFill>
                  <a:schemeClr val="bg1"/>
                </a:solidFill>
              </a:rPr>
              <a:t>I plan to optimize my weight and have the necessary systems to keep it up and running.</a:t>
            </a:r>
          </a:p>
          <a:p>
            <a:r>
              <a:rPr lang="en-US" dirty="0">
                <a:solidFill>
                  <a:schemeClr val="bg1"/>
                </a:solidFill>
              </a:rPr>
              <a:t>I plan to analyze the data post-flight to see the accuracy of the model.</a:t>
            </a:r>
          </a:p>
          <a:p>
            <a:r>
              <a:rPr lang="en-US" dirty="0">
                <a:solidFill>
                  <a:schemeClr val="bg1"/>
                </a:solidFill>
              </a:rPr>
              <a:t>I am confident that the model will work as intended and accuracy to be about 90% during flight.</a:t>
            </a:r>
          </a:p>
        </p:txBody>
      </p:sp>
    </p:spTree>
    <p:extLst>
      <p:ext uri="{BB962C8B-B14F-4D97-AF65-F5344CB8AC3E}">
        <p14:creationId xmlns:p14="http://schemas.microsoft.com/office/powerpoint/2010/main" val="21517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fffbac-3411-4757-823a-b3c675efd3eb">
      <Terms xmlns="http://schemas.microsoft.com/office/infopath/2007/PartnerControls"/>
    </lcf76f155ced4ddcb4097134ff3c332f>
    <TaxCatchAll xmlns="c8fbb5d0-7590-4e0b-91c7-9c7049c2246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B7FBE526CC7E4A80940ED2E9C3E68F" ma:contentTypeVersion="22" ma:contentTypeDescription="Create a new document." ma:contentTypeScope="" ma:versionID="8be52ec51f24ceeb84cfa9400be02002">
  <xsd:schema xmlns:xsd="http://www.w3.org/2001/XMLSchema" xmlns:xs="http://www.w3.org/2001/XMLSchema" xmlns:p="http://schemas.microsoft.com/office/2006/metadata/properties" xmlns:ns2="c8fbb5d0-7590-4e0b-91c7-9c7049c22468" xmlns:ns3="37fffbac-3411-4757-823a-b3c675efd3eb" targetNamespace="http://schemas.microsoft.com/office/2006/metadata/properties" ma:root="true" ma:fieldsID="1535f814667adeec93cb08d0a595614a" ns2:_="" ns3:_="">
    <xsd:import namespace="c8fbb5d0-7590-4e0b-91c7-9c7049c22468"/>
    <xsd:import namespace="37fffbac-3411-4757-823a-b3c675efd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bb5d0-7590-4e0b-91c7-9c7049c22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2dc5d02-32cf-4b5f-a56c-e73e2c56a0e2}" ma:internalName="TaxCatchAll" ma:showField="CatchAllData" ma:web="c8fbb5d0-7590-4e0b-91c7-9c7049c224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fffbac-3411-4757-823a-b3c675efd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a199682-18ee-4490-8928-55ce5e3413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9369C2-DCF3-4D8E-91F0-2FE4B41961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A5734F-E3C9-4BED-9D49-C95556D317D1}">
  <ds:schemaRefs>
    <ds:schemaRef ds:uri="c406f6ab-c41c-471b-9c6d-1fb28ca55b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7fffbac-3411-4757-823a-b3c675efd3eb"/>
    <ds:schemaRef ds:uri="c8fbb5d0-7590-4e0b-91c7-9c7049c22468"/>
  </ds:schemaRefs>
</ds:datastoreItem>
</file>

<file path=customXml/itemProps3.xml><?xml version="1.0" encoding="utf-8"?>
<ds:datastoreItem xmlns:ds="http://schemas.openxmlformats.org/officeDocument/2006/customXml" ds:itemID="{FFE38B68-2CC0-4017-983D-2A008A0C7D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bb5d0-7590-4e0b-91c7-9c7049c22468"/>
    <ds:schemaRef ds:uri="37fffbac-3411-4757-823a-b3c675efd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DemoSat: Machine Learning</vt:lpstr>
      <vt:lpstr>PowerPoint Presentation</vt:lpstr>
      <vt:lpstr>PowerPoint Presentation</vt:lpstr>
      <vt:lpstr>Subsystem Requirements</vt:lpstr>
      <vt:lpstr>PowerPoint Presentation</vt:lpstr>
      <vt:lpstr>Machine Learning – Neural Network Pt. 1</vt:lpstr>
      <vt:lpstr>Machine Learning – Neural Network Pt. 2</vt:lpstr>
      <vt:lpstr>PowerPoint Presentation</vt:lpstr>
      <vt:lpstr>PowerPoint Presentation</vt:lpstr>
      <vt:lpstr>PowerPoint Presentation</vt:lpstr>
      <vt:lpstr>PowerPoint Presentation</vt:lpstr>
      <vt:lpstr>Structure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Zeller, Andrew</dc:creator>
  <cp:lastModifiedBy>Arian Rasoli</cp:lastModifiedBy>
  <cp:revision>22</cp:revision>
  <dcterms:created xsi:type="dcterms:W3CDTF">2025-07-28T03:27:03Z</dcterms:created>
  <dcterms:modified xsi:type="dcterms:W3CDTF">2025-10-14T14:04:49Z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0x01010010B7FBE526CC7E4A80940ED2E9C3E68F</vt:lpwstr>
  </property>
</Properties>
</file>